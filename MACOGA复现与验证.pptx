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3" r:id="rId3"/>
    <p:sldId id="344" r:id="rId4"/>
    <p:sldId id="345" r:id="rId5"/>
    <p:sldId id="319" r:id="rId6"/>
    <p:sldId id="348" r:id="rId7"/>
    <p:sldId id="349" r:id="rId8"/>
    <p:sldId id="353" r:id="rId9"/>
    <p:sldId id="354" r:id="rId10"/>
    <p:sldId id="334" r:id="rId11"/>
    <p:sldId id="350" r:id="rId12"/>
    <p:sldId id="358" r:id="rId13"/>
    <p:sldId id="361" r:id="rId14"/>
    <p:sldId id="357" r:id="rId15"/>
    <p:sldId id="355" r:id="rId16"/>
    <p:sldId id="360" r:id="rId17"/>
    <p:sldId id="356" r:id="rId18"/>
    <p:sldId id="359" r:id="rId19"/>
    <p:sldId id="351" r:id="rId20"/>
    <p:sldId id="338" r:id="rId21"/>
    <p:sldId id="341" r:id="rId22"/>
    <p:sldId id="352" r:id="rId23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8" userDrawn="1">
          <p15:clr>
            <a:srgbClr val="A4A3A4"/>
          </p15:clr>
        </p15:guide>
        <p15:guide id="2" pos="2847" userDrawn="1">
          <p15:clr>
            <a:srgbClr val="A4A3A4"/>
          </p15:clr>
        </p15:guide>
        <p15:guide id="3" orient="horz" pos="30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517C"/>
    <a:srgbClr val="F4F4F5"/>
    <a:srgbClr val="42556C"/>
    <a:srgbClr val="F8F8F9"/>
    <a:srgbClr val="F6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 showGuides="1">
      <p:cViewPr>
        <p:scale>
          <a:sx n="78" d="100"/>
          <a:sy n="78" d="100"/>
        </p:scale>
        <p:origin x="1229" y="662"/>
      </p:cViewPr>
      <p:guideLst>
        <p:guide orient="horz" pos="2518"/>
        <p:guide pos="2847"/>
        <p:guide orient="horz" pos="30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30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0"/>
            <a:ext cx="9141713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0"/>
            <a:ext cx="9141713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42721"/>
            <a:ext cx="9144000" cy="463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7029" y="85035"/>
            <a:ext cx="779196" cy="77919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0"/>
            <a:ext cx="9141713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42721"/>
            <a:ext cx="9144000" cy="463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7029" y="85035"/>
            <a:ext cx="779196" cy="77919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831126" y="1223528"/>
            <a:ext cx="2335264" cy="1673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977612" y="1223528"/>
            <a:ext cx="2335264" cy="1673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31126" y="3042140"/>
            <a:ext cx="2335264" cy="1673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977612" y="3042140"/>
            <a:ext cx="2335264" cy="16733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299791" y="1249332"/>
            <a:ext cx="2544418" cy="346620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0"/>
            <a:ext cx="9141713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242721"/>
            <a:ext cx="9144000" cy="463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7029" y="85035"/>
            <a:ext cx="779196" cy="77919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1357822"/>
            <a:ext cx="3204756" cy="16475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335382" y="1357822"/>
            <a:ext cx="3204756" cy="16475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53346" y="1357822"/>
            <a:ext cx="2489510" cy="1647593"/>
          </a:xfrm>
          <a:prstGeom prst="rect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图片占位符 2"/>
          <p:cNvSpPr>
            <a:spLocks noGrp="1"/>
          </p:cNvSpPr>
          <p:nvPr>
            <p:ph type="pic" sz="quarter" idx="12"/>
          </p:nvPr>
        </p:nvSpPr>
        <p:spPr>
          <a:xfrm>
            <a:off x="4570855" y="3160001"/>
            <a:ext cx="4572001" cy="16475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-1" y="3160000"/>
            <a:ext cx="4458790" cy="1647593"/>
          </a:xfrm>
          <a:prstGeom prst="rect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87CF-3569-4A6D-ABE9-80B564D3A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1EDE2-ED55-47B1-BF0C-0EF98048EB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F87CF-3569-4A6D-ABE9-80B564D3AF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1EDE2-ED55-47B1-BF0C-0EF98048EB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851535" y="1848406"/>
            <a:ext cx="7548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ACO-GA</a:t>
            </a:r>
            <a:r>
              <a:rPr lang="zh-CN" altLang="en-US" sz="2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混合优化的全局路径规划算法复现与验证</a:t>
            </a:r>
            <a:endParaRPr lang="zh-CN" altLang="en-US" sz="2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21510" y="2308860"/>
            <a:ext cx="9531350" cy="6762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>
                <a:solidFill>
                  <a:schemeClr val="bg1"/>
                </a:solidFill>
                <a:latin typeface="Arial" panose="020B0604020202020204"/>
              </a:rPr>
              <a:t>《</a:t>
            </a:r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ACO-GA-Based Optimization to Enhance Global  Path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  <a:p>
            <a:pPr algn="l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 Planning for Autonomous Navigation in Grid  Environments</a:t>
            </a:r>
            <a:r>
              <a:rPr lang="zh-CN" altLang="en-US" sz="1400">
                <a:solidFill>
                  <a:schemeClr val="bg1"/>
                </a:solidFill>
                <a:latin typeface="Arial" panose="020B0604020202020204"/>
              </a:rPr>
              <a:t>》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  <a:p>
            <a:pPr algn="l"/>
            <a:endParaRPr lang="zh-CN" altLang="en-US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937684" y="3986384"/>
            <a:ext cx="1622662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学生：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ljp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926810" y="3986384"/>
            <a:ext cx="1622662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汇报日期：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2025.4.25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632516" y="3972299"/>
            <a:ext cx="305168" cy="305168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Freeform 27"/>
          <p:cNvSpPr>
            <a:spLocks noEditPoints="1"/>
          </p:cNvSpPr>
          <p:nvPr/>
        </p:nvSpPr>
        <p:spPr bwMode="auto">
          <a:xfrm>
            <a:off x="2701487" y="4008109"/>
            <a:ext cx="167227" cy="233549"/>
          </a:xfrm>
          <a:custGeom>
            <a:avLst/>
            <a:gdLst>
              <a:gd name="T0" fmla="*/ 20 w 204"/>
              <a:gd name="T1" fmla="*/ 87 h 285"/>
              <a:gd name="T2" fmla="*/ 49 w 204"/>
              <a:gd name="T3" fmla="*/ 64 h 285"/>
              <a:gd name="T4" fmla="*/ 66 w 204"/>
              <a:gd name="T5" fmla="*/ 64 h 285"/>
              <a:gd name="T6" fmla="*/ 72 w 204"/>
              <a:gd name="T7" fmla="*/ 73 h 285"/>
              <a:gd name="T8" fmla="*/ 78 w 204"/>
              <a:gd name="T9" fmla="*/ 64 h 285"/>
              <a:gd name="T10" fmla="*/ 92 w 204"/>
              <a:gd name="T11" fmla="*/ 64 h 285"/>
              <a:gd name="T12" fmla="*/ 122 w 204"/>
              <a:gd name="T13" fmla="*/ 87 h 285"/>
              <a:gd name="T14" fmla="*/ 122 w 204"/>
              <a:gd name="T15" fmla="*/ 117 h 285"/>
              <a:gd name="T16" fmla="*/ 104 w 204"/>
              <a:gd name="T17" fmla="*/ 117 h 285"/>
              <a:gd name="T18" fmla="*/ 104 w 204"/>
              <a:gd name="T19" fmla="*/ 91 h 285"/>
              <a:gd name="T20" fmla="*/ 98 w 204"/>
              <a:gd name="T21" fmla="*/ 91 h 285"/>
              <a:gd name="T22" fmla="*/ 98 w 204"/>
              <a:gd name="T23" fmla="*/ 117 h 285"/>
              <a:gd name="T24" fmla="*/ 43 w 204"/>
              <a:gd name="T25" fmla="*/ 117 h 285"/>
              <a:gd name="T26" fmla="*/ 43 w 204"/>
              <a:gd name="T27" fmla="*/ 91 h 285"/>
              <a:gd name="T28" fmla="*/ 38 w 204"/>
              <a:gd name="T29" fmla="*/ 91 h 285"/>
              <a:gd name="T30" fmla="*/ 38 w 204"/>
              <a:gd name="T31" fmla="*/ 117 h 285"/>
              <a:gd name="T32" fmla="*/ 20 w 204"/>
              <a:gd name="T33" fmla="*/ 117 h 285"/>
              <a:gd name="T34" fmla="*/ 20 w 204"/>
              <a:gd name="T35" fmla="*/ 87 h 285"/>
              <a:gd name="T36" fmla="*/ 72 w 204"/>
              <a:gd name="T37" fmla="*/ 57 h 285"/>
              <a:gd name="T38" fmla="*/ 93 w 204"/>
              <a:gd name="T39" fmla="*/ 35 h 285"/>
              <a:gd name="T40" fmla="*/ 72 w 204"/>
              <a:gd name="T41" fmla="*/ 14 h 285"/>
              <a:gd name="T42" fmla="*/ 50 w 204"/>
              <a:gd name="T43" fmla="*/ 35 h 285"/>
              <a:gd name="T44" fmla="*/ 72 w 204"/>
              <a:gd name="T45" fmla="*/ 57 h 285"/>
              <a:gd name="T46" fmla="*/ 43 w 204"/>
              <a:gd name="T47" fmla="*/ 285 h 285"/>
              <a:gd name="T48" fmla="*/ 98 w 204"/>
              <a:gd name="T49" fmla="*/ 285 h 285"/>
              <a:gd name="T50" fmla="*/ 124 w 204"/>
              <a:gd name="T51" fmla="*/ 147 h 285"/>
              <a:gd name="T52" fmla="*/ 17 w 204"/>
              <a:gd name="T53" fmla="*/ 147 h 285"/>
              <a:gd name="T54" fmla="*/ 43 w 204"/>
              <a:gd name="T55" fmla="*/ 285 h 285"/>
              <a:gd name="T56" fmla="*/ 204 w 204"/>
              <a:gd name="T57" fmla="*/ 29 h 285"/>
              <a:gd name="T58" fmla="*/ 166 w 204"/>
              <a:gd name="T59" fmla="*/ 58 h 285"/>
              <a:gd name="T60" fmla="*/ 135 w 204"/>
              <a:gd name="T61" fmla="*/ 73 h 285"/>
              <a:gd name="T62" fmla="*/ 144 w 204"/>
              <a:gd name="T63" fmla="*/ 55 h 285"/>
              <a:gd name="T64" fmla="*/ 122 w 204"/>
              <a:gd name="T65" fmla="*/ 29 h 285"/>
              <a:gd name="T66" fmla="*/ 163 w 204"/>
              <a:gd name="T67" fmla="*/ 0 h 285"/>
              <a:gd name="T68" fmla="*/ 204 w 204"/>
              <a:gd name="T69" fmla="*/ 29 h 285"/>
              <a:gd name="T70" fmla="*/ 187 w 204"/>
              <a:gd name="T71" fmla="*/ 36 h 285"/>
              <a:gd name="T72" fmla="*/ 185 w 204"/>
              <a:gd name="T73" fmla="*/ 34 h 285"/>
              <a:gd name="T74" fmla="*/ 141 w 204"/>
              <a:gd name="T75" fmla="*/ 34 h 285"/>
              <a:gd name="T76" fmla="*/ 139 w 204"/>
              <a:gd name="T77" fmla="*/ 36 h 285"/>
              <a:gd name="T78" fmla="*/ 141 w 204"/>
              <a:gd name="T79" fmla="*/ 39 h 285"/>
              <a:gd name="T80" fmla="*/ 185 w 204"/>
              <a:gd name="T81" fmla="*/ 39 h 285"/>
              <a:gd name="T82" fmla="*/ 187 w 204"/>
              <a:gd name="T83" fmla="*/ 36 h 285"/>
              <a:gd name="T84" fmla="*/ 187 w 204"/>
              <a:gd name="T85" fmla="*/ 22 h 285"/>
              <a:gd name="T86" fmla="*/ 185 w 204"/>
              <a:gd name="T87" fmla="*/ 20 h 285"/>
              <a:gd name="T88" fmla="*/ 141 w 204"/>
              <a:gd name="T89" fmla="*/ 20 h 285"/>
              <a:gd name="T90" fmla="*/ 139 w 204"/>
              <a:gd name="T91" fmla="*/ 22 h 285"/>
              <a:gd name="T92" fmla="*/ 141 w 204"/>
              <a:gd name="T93" fmla="*/ 25 h 285"/>
              <a:gd name="T94" fmla="*/ 185 w 204"/>
              <a:gd name="T95" fmla="*/ 25 h 285"/>
              <a:gd name="T96" fmla="*/ 187 w 204"/>
              <a:gd name="T97" fmla="*/ 22 h 285"/>
              <a:gd name="T98" fmla="*/ 0 w 204"/>
              <a:gd name="T99" fmla="*/ 141 h 285"/>
              <a:gd name="T100" fmla="*/ 141 w 204"/>
              <a:gd name="T101" fmla="*/ 141 h 285"/>
              <a:gd name="T102" fmla="*/ 141 w 204"/>
              <a:gd name="T103" fmla="*/ 121 h 285"/>
              <a:gd name="T104" fmla="*/ 0 w 204"/>
              <a:gd name="T105" fmla="*/ 121 h 285"/>
              <a:gd name="T106" fmla="*/ 0 w 204"/>
              <a:gd name="T107" fmla="*/ 141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4" h="285">
                <a:moveTo>
                  <a:pt x="20" y="87"/>
                </a:moveTo>
                <a:cubicBezTo>
                  <a:pt x="20" y="87"/>
                  <a:pt x="18" y="64"/>
                  <a:pt x="49" y="64"/>
                </a:cubicBezTo>
                <a:cubicBezTo>
                  <a:pt x="66" y="64"/>
                  <a:pt x="66" y="64"/>
                  <a:pt x="66" y="64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64"/>
                  <a:pt x="78" y="64"/>
                  <a:pt x="78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2" y="64"/>
                  <a:pt x="120" y="63"/>
                  <a:pt x="122" y="87"/>
                </a:cubicBezTo>
                <a:cubicBezTo>
                  <a:pt x="122" y="117"/>
                  <a:pt x="122" y="117"/>
                  <a:pt x="122" y="117"/>
                </a:cubicBezTo>
                <a:cubicBezTo>
                  <a:pt x="104" y="117"/>
                  <a:pt x="104" y="117"/>
                  <a:pt x="104" y="117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98" y="91"/>
                  <a:pt x="98" y="91"/>
                  <a:pt x="98" y="91"/>
                </a:cubicBezTo>
                <a:cubicBezTo>
                  <a:pt x="98" y="117"/>
                  <a:pt x="98" y="117"/>
                  <a:pt x="98" y="117"/>
                </a:cubicBezTo>
                <a:cubicBezTo>
                  <a:pt x="43" y="117"/>
                  <a:pt x="43" y="117"/>
                  <a:pt x="43" y="117"/>
                </a:cubicBezTo>
                <a:cubicBezTo>
                  <a:pt x="43" y="91"/>
                  <a:pt x="43" y="91"/>
                  <a:pt x="43" y="91"/>
                </a:cubicBezTo>
                <a:cubicBezTo>
                  <a:pt x="38" y="91"/>
                  <a:pt x="38" y="91"/>
                  <a:pt x="38" y="91"/>
                </a:cubicBezTo>
                <a:cubicBezTo>
                  <a:pt x="38" y="117"/>
                  <a:pt x="38" y="117"/>
                  <a:pt x="38" y="117"/>
                </a:cubicBezTo>
                <a:cubicBezTo>
                  <a:pt x="20" y="117"/>
                  <a:pt x="20" y="117"/>
                  <a:pt x="20" y="117"/>
                </a:cubicBezTo>
                <a:lnTo>
                  <a:pt x="20" y="87"/>
                </a:lnTo>
                <a:close/>
                <a:moveTo>
                  <a:pt x="72" y="57"/>
                </a:moveTo>
                <a:cubicBezTo>
                  <a:pt x="84" y="57"/>
                  <a:pt x="93" y="47"/>
                  <a:pt x="93" y="35"/>
                </a:cubicBezTo>
                <a:cubicBezTo>
                  <a:pt x="93" y="23"/>
                  <a:pt x="84" y="14"/>
                  <a:pt x="72" y="14"/>
                </a:cubicBezTo>
                <a:cubicBezTo>
                  <a:pt x="60" y="14"/>
                  <a:pt x="50" y="23"/>
                  <a:pt x="50" y="35"/>
                </a:cubicBezTo>
                <a:cubicBezTo>
                  <a:pt x="50" y="47"/>
                  <a:pt x="60" y="57"/>
                  <a:pt x="72" y="57"/>
                </a:cubicBezTo>
                <a:close/>
                <a:moveTo>
                  <a:pt x="43" y="285"/>
                </a:moveTo>
                <a:cubicBezTo>
                  <a:pt x="98" y="285"/>
                  <a:pt x="98" y="285"/>
                  <a:pt x="98" y="285"/>
                </a:cubicBezTo>
                <a:cubicBezTo>
                  <a:pt x="124" y="147"/>
                  <a:pt x="124" y="147"/>
                  <a:pt x="124" y="147"/>
                </a:cubicBezTo>
                <a:cubicBezTo>
                  <a:pt x="17" y="147"/>
                  <a:pt x="17" y="147"/>
                  <a:pt x="17" y="147"/>
                </a:cubicBezTo>
                <a:lnTo>
                  <a:pt x="43" y="285"/>
                </a:lnTo>
                <a:close/>
                <a:moveTo>
                  <a:pt x="204" y="29"/>
                </a:moveTo>
                <a:cubicBezTo>
                  <a:pt x="204" y="45"/>
                  <a:pt x="187" y="57"/>
                  <a:pt x="166" y="58"/>
                </a:cubicBezTo>
                <a:cubicBezTo>
                  <a:pt x="154" y="67"/>
                  <a:pt x="135" y="73"/>
                  <a:pt x="135" y="73"/>
                </a:cubicBezTo>
                <a:cubicBezTo>
                  <a:pt x="144" y="64"/>
                  <a:pt x="145" y="58"/>
                  <a:pt x="144" y="55"/>
                </a:cubicBezTo>
                <a:cubicBezTo>
                  <a:pt x="131" y="50"/>
                  <a:pt x="122" y="41"/>
                  <a:pt x="122" y="29"/>
                </a:cubicBezTo>
                <a:cubicBezTo>
                  <a:pt x="122" y="13"/>
                  <a:pt x="140" y="0"/>
                  <a:pt x="163" y="0"/>
                </a:cubicBezTo>
                <a:cubicBezTo>
                  <a:pt x="186" y="0"/>
                  <a:pt x="204" y="13"/>
                  <a:pt x="204" y="29"/>
                </a:cubicBezTo>
                <a:close/>
                <a:moveTo>
                  <a:pt x="187" y="36"/>
                </a:moveTo>
                <a:cubicBezTo>
                  <a:pt x="187" y="35"/>
                  <a:pt x="186" y="34"/>
                  <a:pt x="185" y="34"/>
                </a:cubicBezTo>
                <a:cubicBezTo>
                  <a:pt x="141" y="34"/>
                  <a:pt x="141" y="34"/>
                  <a:pt x="141" y="34"/>
                </a:cubicBezTo>
                <a:cubicBezTo>
                  <a:pt x="140" y="34"/>
                  <a:pt x="139" y="35"/>
                  <a:pt x="139" y="36"/>
                </a:cubicBezTo>
                <a:cubicBezTo>
                  <a:pt x="139" y="38"/>
                  <a:pt x="140" y="39"/>
                  <a:pt x="141" y="3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6" y="39"/>
                  <a:pt x="187" y="38"/>
                  <a:pt x="187" y="36"/>
                </a:cubicBezTo>
                <a:close/>
                <a:moveTo>
                  <a:pt x="187" y="22"/>
                </a:moveTo>
                <a:cubicBezTo>
                  <a:pt x="187" y="21"/>
                  <a:pt x="186" y="20"/>
                  <a:pt x="185" y="20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40" y="20"/>
                  <a:pt x="139" y="21"/>
                  <a:pt x="139" y="22"/>
                </a:cubicBezTo>
                <a:cubicBezTo>
                  <a:pt x="139" y="24"/>
                  <a:pt x="140" y="25"/>
                  <a:pt x="141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6" y="25"/>
                  <a:pt x="187" y="24"/>
                  <a:pt x="187" y="22"/>
                </a:cubicBezTo>
                <a:close/>
                <a:moveTo>
                  <a:pt x="0" y="141"/>
                </a:moveTo>
                <a:cubicBezTo>
                  <a:pt x="141" y="141"/>
                  <a:pt x="141" y="141"/>
                  <a:pt x="141" y="141"/>
                </a:cubicBezTo>
                <a:cubicBezTo>
                  <a:pt x="141" y="121"/>
                  <a:pt x="141" y="121"/>
                  <a:pt x="141" y="121"/>
                </a:cubicBezTo>
                <a:cubicBezTo>
                  <a:pt x="0" y="121"/>
                  <a:pt x="0" y="121"/>
                  <a:pt x="0" y="121"/>
                </a:cubicBezTo>
                <a:lnTo>
                  <a:pt x="0" y="1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621642" y="3972299"/>
            <a:ext cx="305168" cy="305168"/>
            <a:chOff x="2457439" y="3158769"/>
            <a:chExt cx="305168" cy="305168"/>
          </a:xfrm>
        </p:grpSpPr>
        <p:sp>
          <p:nvSpPr>
            <p:cNvPr id="40" name="椭圆 39"/>
            <p:cNvSpPr/>
            <p:nvPr/>
          </p:nvSpPr>
          <p:spPr>
            <a:xfrm>
              <a:off x="2457439" y="3158769"/>
              <a:ext cx="305168" cy="305168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Freeform 21"/>
            <p:cNvSpPr>
              <a:spLocks noEditPoints="1"/>
            </p:cNvSpPr>
            <p:nvPr/>
          </p:nvSpPr>
          <p:spPr bwMode="auto">
            <a:xfrm>
              <a:off x="2507187" y="3229469"/>
              <a:ext cx="205673" cy="206541"/>
            </a:xfrm>
            <a:custGeom>
              <a:avLst/>
              <a:gdLst>
                <a:gd name="T0" fmla="*/ 274 w 274"/>
                <a:gd name="T1" fmla="*/ 128 h 275"/>
                <a:gd name="T2" fmla="*/ 120 w 274"/>
                <a:gd name="T3" fmla="*/ 134 h 275"/>
                <a:gd name="T4" fmla="*/ 114 w 274"/>
                <a:gd name="T5" fmla="*/ 120 h 275"/>
                <a:gd name="T6" fmla="*/ 125 w 274"/>
                <a:gd name="T7" fmla="*/ 123 h 275"/>
                <a:gd name="T8" fmla="*/ 263 w 274"/>
                <a:gd name="T9" fmla="*/ 24 h 275"/>
                <a:gd name="T10" fmla="*/ 125 w 274"/>
                <a:gd name="T11" fmla="*/ 66 h 275"/>
                <a:gd name="T12" fmla="*/ 122 w 274"/>
                <a:gd name="T13" fmla="*/ 68 h 275"/>
                <a:gd name="T14" fmla="*/ 114 w 274"/>
                <a:gd name="T15" fmla="*/ 18 h 275"/>
                <a:gd name="T16" fmla="*/ 269 w 274"/>
                <a:gd name="T17" fmla="*/ 13 h 275"/>
                <a:gd name="T18" fmla="*/ 141 w 274"/>
                <a:gd name="T19" fmla="*/ 93 h 275"/>
                <a:gd name="T20" fmla="*/ 148 w 274"/>
                <a:gd name="T21" fmla="*/ 88 h 275"/>
                <a:gd name="T22" fmla="*/ 150 w 274"/>
                <a:gd name="T23" fmla="*/ 76 h 275"/>
                <a:gd name="T24" fmla="*/ 202 w 274"/>
                <a:gd name="T25" fmla="*/ 35 h 275"/>
                <a:gd name="T26" fmla="*/ 141 w 274"/>
                <a:gd name="T27" fmla="*/ 70 h 275"/>
                <a:gd name="T28" fmla="*/ 133 w 274"/>
                <a:gd name="T29" fmla="*/ 73 h 275"/>
                <a:gd name="T30" fmla="*/ 119 w 274"/>
                <a:gd name="T31" fmla="*/ 83 h 275"/>
                <a:gd name="T32" fmla="*/ 85 w 274"/>
                <a:gd name="T33" fmla="*/ 52 h 275"/>
                <a:gd name="T34" fmla="*/ 60 w 274"/>
                <a:gd name="T35" fmla="*/ 71 h 275"/>
                <a:gd name="T36" fmla="*/ 36 w 274"/>
                <a:gd name="T37" fmla="*/ 52 h 275"/>
                <a:gd name="T38" fmla="*/ 2 w 274"/>
                <a:gd name="T39" fmla="*/ 140 h 275"/>
                <a:gd name="T40" fmla="*/ 2 w 274"/>
                <a:gd name="T41" fmla="*/ 140 h 275"/>
                <a:gd name="T42" fmla="*/ 22 w 274"/>
                <a:gd name="T43" fmla="*/ 140 h 275"/>
                <a:gd name="T44" fmla="*/ 22 w 274"/>
                <a:gd name="T45" fmla="*/ 140 h 275"/>
                <a:gd name="T46" fmla="*/ 29 w 274"/>
                <a:gd name="T47" fmla="*/ 84 h 275"/>
                <a:gd name="T48" fmla="*/ 43 w 274"/>
                <a:gd name="T49" fmla="*/ 275 h 275"/>
                <a:gd name="T50" fmla="*/ 57 w 274"/>
                <a:gd name="T51" fmla="*/ 147 h 275"/>
                <a:gd name="T52" fmla="*/ 63 w 274"/>
                <a:gd name="T53" fmla="*/ 261 h 275"/>
                <a:gd name="T54" fmla="*/ 77 w 274"/>
                <a:gd name="T55" fmla="*/ 275 h 275"/>
                <a:gd name="T56" fmla="*/ 91 w 274"/>
                <a:gd name="T57" fmla="*/ 83 h 275"/>
                <a:gd name="T58" fmla="*/ 98 w 274"/>
                <a:gd name="T59" fmla="*/ 102 h 275"/>
                <a:gd name="T60" fmla="*/ 109 w 274"/>
                <a:gd name="T61" fmla="*/ 112 h 275"/>
                <a:gd name="T62" fmla="*/ 113 w 274"/>
                <a:gd name="T63" fmla="*/ 111 h 275"/>
                <a:gd name="T64" fmla="*/ 141 w 274"/>
                <a:gd name="T65" fmla="*/ 93 h 275"/>
                <a:gd name="T66" fmla="*/ 84 w 274"/>
                <a:gd name="T67" fmla="*/ 24 h 275"/>
                <a:gd name="T68" fmla="*/ 36 w 274"/>
                <a:gd name="T69" fmla="*/ 24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4" h="275">
                  <a:moveTo>
                    <a:pt x="274" y="18"/>
                  </a:moveTo>
                  <a:cubicBezTo>
                    <a:pt x="274" y="128"/>
                    <a:pt x="274" y="128"/>
                    <a:pt x="274" y="128"/>
                  </a:cubicBezTo>
                  <a:cubicBezTo>
                    <a:pt x="274" y="131"/>
                    <a:pt x="272" y="134"/>
                    <a:pt x="269" y="134"/>
                  </a:cubicBezTo>
                  <a:cubicBezTo>
                    <a:pt x="120" y="134"/>
                    <a:pt x="120" y="134"/>
                    <a:pt x="120" y="134"/>
                  </a:cubicBezTo>
                  <a:cubicBezTo>
                    <a:pt x="116" y="134"/>
                    <a:pt x="114" y="131"/>
                    <a:pt x="114" y="128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25" y="112"/>
                    <a:pt x="125" y="112"/>
                    <a:pt x="125" y="112"/>
                  </a:cubicBezTo>
                  <a:cubicBezTo>
                    <a:pt x="125" y="123"/>
                    <a:pt x="125" y="123"/>
                    <a:pt x="125" y="123"/>
                  </a:cubicBezTo>
                  <a:cubicBezTo>
                    <a:pt x="263" y="123"/>
                    <a:pt x="263" y="123"/>
                    <a:pt x="263" y="123"/>
                  </a:cubicBezTo>
                  <a:cubicBezTo>
                    <a:pt x="263" y="24"/>
                    <a:pt x="263" y="24"/>
                    <a:pt x="263" y="24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5" y="66"/>
                    <a:pt x="125" y="66"/>
                    <a:pt x="125" y="66"/>
                  </a:cubicBezTo>
                  <a:cubicBezTo>
                    <a:pt x="125" y="66"/>
                    <a:pt x="124" y="66"/>
                    <a:pt x="124" y="67"/>
                  </a:cubicBezTo>
                  <a:cubicBezTo>
                    <a:pt x="122" y="68"/>
                    <a:pt x="122" y="68"/>
                    <a:pt x="122" y="68"/>
                  </a:cubicBezTo>
                  <a:cubicBezTo>
                    <a:pt x="120" y="63"/>
                    <a:pt x="117" y="59"/>
                    <a:pt x="114" y="56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15"/>
                    <a:pt x="116" y="13"/>
                    <a:pt x="120" y="13"/>
                  </a:cubicBezTo>
                  <a:cubicBezTo>
                    <a:pt x="269" y="13"/>
                    <a:pt x="269" y="13"/>
                    <a:pt x="269" y="13"/>
                  </a:cubicBezTo>
                  <a:cubicBezTo>
                    <a:pt x="272" y="13"/>
                    <a:pt x="274" y="15"/>
                    <a:pt x="274" y="18"/>
                  </a:cubicBezTo>
                  <a:close/>
                  <a:moveTo>
                    <a:pt x="141" y="93"/>
                  </a:moveTo>
                  <a:cubicBezTo>
                    <a:pt x="148" y="88"/>
                    <a:pt x="148" y="88"/>
                    <a:pt x="148" y="88"/>
                  </a:cubicBezTo>
                  <a:cubicBezTo>
                    <a:pt x="148" y="88"/>
                    <a:pt x="148" y="88"/>
                    <a:pt x="148" y="88"/>
                  </a:cubicBezTo>
                  <a:cubicBezTo>
                    <a:pt x="148" y="88"/>
                    <a:pt x="148" y="88"/>
                    <a:pt x="148" y="88"/>
                  </a:cubicBezTo>
                  <a:cubicBezTo>
                    <a:pt x="151" y="85"/>
                    <a:pt x="152" y="80"/>
                    <a:pt x="150" y="76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2" y="35"/>
                    <a:pt x="202" y="35"/>
                    <a:pt x="202" y="35"/>
                  </a:cubicBezTo>
                  <a:cubicBezTo>
                    <a:pt x="147" y="72"/>
                    <a:pt x="147" y="72"/>
                    <a:pt x="147" y="72"/>
                  </a:cubicBezTo>
                  <a:cubicBezTo>
                    <a:pt x="145" y="71"/>
                    <a:pt x="143" y="70"/>
                    <a:pt x="141" y="70"/>
                  </a:cubicBezTo>
                  <a:cubicBezTo>
                    <a:pt x="138" y="70"/>
                    <a:pt x="135" y="71"/>
                    <a:pt x="133" y="73"/>
                  </a:cubicBezTo>
                  <a:cubicBezTo>
                    <a:pt x="133" y="73"/>
                    <a:pt x="133" y="73"/>
                    <a:pt x="133" y="73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19" y="83"/>
                    <a:pt x="119" y="83"/>
                    <a:pt x="119" y="83"/>
                  </a:cubicBezTo>
                  <a:cubicBezTo>
                    <a:pt x="119" y="79"/>
                    <a:pt x="119" y="79"/>
                    <a:pt x="119" y="79"/>
                  </a:cubicBezTo>
                  <a:cubicBezTo>
                    <a:pt x="117" y="52"/>
                    <a:pt x="85" y="52"/>
                    <a:pt x="85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60" y="71"/>
                    <a:pt x="60" y="71"/>
                    <a:pt x="60" y="71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0" y="53"/>
                    <a:pt x="2" y="79"/>
                    <a:pt x="2" y="79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46"/>
                    <a:pt x="6" y="151"/>
                    <a:pt x="12" y="151"/>
                  </a:cubicBezTo>
                  <a:cubicBezTo>
                    <a:pt x="18" y="151"/>
                    <a:pt x="22" y="146"/>
                    <a:pt x="22" y="140"/>
                  </a:cubicBezTo>
                  <a:cubicBezTo>
                    <a:pt x="22" y="140"/>
                    <a:pt x="22" y="140"/>
                    <a:pt x="22" y="140"/>
                  </a:cubicBezTo>
                  <a:cubicBezTo>
                    <a:pt x="22" y="140"/>
                    <a:pt x="22" y="140"/>
                    <a:pt x="22" y="140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261"/>
                    <a:pt x="29" y="261"/>
                    <a:pt x="29" y="261"/>
                  </a:cubicBezTo>
                  <a:cubicBezTo>
                    <a:pt x="29" y="269"/>
                    <a:pt x="35" y="275"/>
                    <a:pt x="43" y="275"/>
                  </a:cubicBezTo>
                  <a:cubicBezTo>
                    <a:pt x="51" y="275"/>
                    <a:pt x="57" y="269"/>
                    <a:pt x="57" y="261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261"/>
                    <a:pt x="63" y="261"/>
                    <a:pt x="63" y="261"/>
                  </a:cubicBezTo>
                  <a:cubicBezTo>
                    <a:pt x="63" y="261"/>
                    <a:pt x="63" y="261"/>
                    <a:pt x="63" y="261"/>
                  </a:cubicBezTo>
                  <a:cubicBezTo>
                    <a:pt x="64" y="269"/>
                    <a:pt x="70" y="275"/>
                    <a:pt x="77" y="275"/>
                  </a:cubicBezTo>
                  <a:cubicBezTo>
                    <a:pt x="85" y="275"/>
                    <a:pt x="91" y="269"/>
                    <a:pt x="91" y="261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8" y="102"/>
                    <a:pt x="98" y="102"/>
                    <a:pt x="98" y="102"/>
                  </a:cubicBezTo>
                  <a:cubicBezTo>
                    <a:pt x="98" y="102"/>
                    <a:pt x="98" y="102"/>
                    <a:pt x="98" y="102"/>
                  </a:cubicBezTo>
                  <a:cubicBezTo>
                    <a:pt x="98" y="108"/>
                    <a:pt x="103" y="112"/>
                    <a:pt x="109" y="112"/>
                  </a:cubicBezTo>
                  <a:cubicBezTo>
                    <a:pt x="110" y="112"/>
                    <a:pt x="112" y="112"/>
                    <a:pt x="113" y="111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31" y="99"/>
                    <a:pt x="131" y="99"/>
                    <a:pt x="131" y="99"/>
                  </a:cubicBezTo>
                  <a:lnTo>
                    <a:pt x="141" y="93"/>
                  </a:lnTo>
                  <a:close/>
                  <a:moveTo>
                    <a:pt x="60" y="48"/>
                  </a:moveTo>
                  <a:cubicBezTo>
                    <a:pt x="73" y="48"/>
                    <a:pt x="84" y="37"/>
                    <a:pt x="84" y="24"/>
                  </a:cubicBezTo>
                  <a:cubicBezTo>
                    <a:pt x="84" y="11"/>
                    <a:pt x="73" y="0"/>
                    <a:pt x="60" y="0"/>
                  </a:cubicBezTo>
                  <a:cubicBezTo>
                    <a:pt x="47" y="0"/>
                    <a:pt x="36" y="11"/>
                    <a:pt x="36" y="24"/>
                  </a:cubicBezTo>
                  <a:cubicBezTo>
                    <a:pt x="36" y="37"/>
                    <a:pt x="47" y="48"/>
                    <a:pt x="60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2" name="椭圆 41"/>
          <p:cNvSpPr/>
          <p:nvPr/>
        </p:nvSpPr>
        <p:spPr>
          <a:xfrm>
            <a:off x="3871746" y="30122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095423" y="932055"/>
            <a:ext cx="953154" cy="831386"/>
            <a:chOff x="4675188" y="2882900"/>
            <a:chExt cx="360362" cy="314325"/>
          </a:xfrm>
        </p:grpSpPr>
        <p:sp>
          <p:nvSpPr>
            <p:cNvPr id="44" name="AutoShape 43"/>
            <p:cNvSpPr/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5" name="AutoShape 44"/>
            <p:cNvSpPr/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6" name="AutoShape 45"/>
            <p:cNvSpPr/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椭圆 20"/>
          <p:cNvSpPr/>
          <p:nvPr>
            <p:custDataLst>
              <p:tags r:id="rId1"/>
            </p:custDataLst>
          </p:nvPr>
        </p:nvSpPr>
        <p:spPr>
          <a:xfrm>
            <a:off x="303631" y="1903827"/>
            <a:ext cx="693206" cy="69320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椭圆 21"/>
          <p:cNvSpPr/>
          <p:nvPr>
            <p:custDataLst>
              <p:tags r:id="rId2"/>
            </p:custDataLst>
          </p:nvPr>
        </p:nvSpPr>
        <p:spPr>
          <a:xfrm>
            <a:off x="303631" y="3310048"/>
            <a:ext cx="693206" cy="69320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3" name="文本框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3902" y="2017441"/>
            <a:ext cx="69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背景</a:t>
            </a:r>
            <a:endParaRPr lang="zh-CN" altLang="en-US" sz="2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43902" y="3423662"/>
            <a:ext cx="69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复现</a:t>
            </a:r>
            <a:endParaRPr lang="zh-CN" altLang="en-US" sz="2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9" name="椭圆 28"/>
          <p:cNvSpPr/>
          <p:nvPr>
            <p:custDataLst>
              <p:tags r:id="rId5"/>
            </p:custDataLst>
          </p:nvPr>
        </p:nvSpPr>
        <p:spPr>
          <a:xfrm>
            <a:off x="5094291" y="1903827"/>
            <a:ext cx="693206" cy="69320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0" name="椭圆 29"/>
          <p:cNvSpPr/>
          <p:nvPr>
            <p:custDataLst>
              <p:tags r:id="rId6"/>
            </p:custDataLst>
          </p:nvPr>
        </p:nvSpPr>
        <p:spPr>
          <a:xfrm>
            <a:off x="5094291" y="3310048"/>
            <a:ext cx="693206" cy="693206"/>
          </a:xfrm>
          <a:prstGeom prst="ellipse">
            <a:avLst/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1" name="文本框 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834562" y="2017441"/>
            <a:ext cx="1706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方法与</a:t>
            </a: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创新点</a:t>
            </a:r>
            <a:endParaRPr lang="zh-CN" altLang="en-US" sz="2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834562" y="3423662"/>
            <a:ext cx="69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总结</a:t>
            </a:r>
            <a:endParaRPr lang="zh-CN" altLang="en-US" sz="20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8" name="文本框 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7907" y="1987623"/>
            <a:ext cx="604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zh-CN" altLang="en-US" sz="28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51" name="文本框 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138567" y="1987623"/>
            <a:ext cx="604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zh-CN" altLang="en-US" sz="28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52" name="文本框 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47907" y="3395041"/>
            <a:ext cx="604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zh-CN" altLang="en-US" sz="28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53" name="文本框 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138567" y="3395041"/>
            <a:ext cx="6046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zh-CN" altLang="en-US" sz="280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0" y="-24983"/>
            <a:ext cx="9151942" cy="1395398"/>
          </a:xfrm>
          <a:custGeom>
            <a:avLst/>
            <a:gdLst>
              <a:gd name="connsiteX0" fmla="*/ 0 w 9151942"/>
              <a:gd name="connsiteY0" fmla="*/ 0 h 1395398"/>
              <a:gd name="connsiteX1" fmla="*/ 9151942 w 9151942"/>
              <a:gd name="connsiteY1" fmla="*/ 0 h 1395398"/>
              <a:gd name="connsiteX2" fmla="*/ 9151942 w 9151942"/>
              <a:gd name="connsiteY2" fmla="*/ 623807 h 1395398"/>
              <a:gd name="connsiteX3" fmla="*/ 9136134 w 9151942"/>
              <a:gd name="connsiteY3" fmla="*/ 630520 h 1395398"/>
              <a:gd name="connsiteX4" fmla="*/ 4575971 w 9151942"/>
              <a:gd name="connsiteY4" fmla="*/ 1395398 h 1395398"/>
              <a:gd name="connsiteX5" fmla="*/ 15808 w 9151942"/>
              <a:gd name="connsiteY5" fmla="*/ 630520 h 1395398"/>
              <a:gd name="connsiteX6" fmla="*/ 0 w 9151942"/>
              <a:gd name="connsiteY6" fmla="*/ 623807 h 13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1395398">
                <a:moveTo>
                  <a:pt x="0" y="0"/>
                </a:moveTo>
                <a:lnTo>
                  <a:pt x="9151942" y="0"/>
                </a:lnTo>
                <a:lnTo>
                  <a:pt x="9151942" y="623807"/>
                </a:lnTo>
                <a:lnTo>
                  <a:pt x="9136134" y="630520"/>
                </a:lnTo>
                <a:cubicBezTo>
                  <a:pt x="7896905" y="1108355"/>
                  <a:pt x="6308183" y="1395398"/>
                  <a:pt x="4575971" y="1395398"/>
                </a:cubicBezTo>
                <a:cubicBezTo>
                  <a:pt x="2843760" y="1395398"/>
                  <a:pt x="1255037" y="1108355"/>
                  <a:pt x="15808" y="630520"/>
                </a:cubicBezTo>
                <a:lnTo>
                  <a:pt x="0" y="6238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 bwMode="auto">
          <a:xfrm>
            <a:off x="2726702" y="271380"/>
            <a:ext cx="39103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r>
              <a:rPr lang="en-US" altLang="zh-CN" sz="3600" b="1">
                <a:solidFill>
                  <a:schemeClr val="bg1"/>
                </a:solidFill>
                <a:latin typeface="+mj-ea"/>
                <a:ea typeface="+mj-ea"/>
              </a:rPr>
              <a:t>/CONTENTS</a:t>
            </a:r>
            <a:endParaRPr lang="zh-CN" altLang="en-US" sz="36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921760" y="2078911"/>
            <a:ext cx="13004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sz="4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2329" y="2848352"/>
            <a:ext cx="527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Background And Significance Of The Selected Topic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3871746" y="63523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76504" y="3700731"/>
            <a:ext cx="6190992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Lorem ipsum dolor sit amet, consectetuer adipiscing elit. Aenean commodo ligula eget dolor. Cum sociis natoque penatibus et magnis dis parturient montes, nascetur ridiculus mus. 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4044819" y="781493"/>
            <a:ext cx="10310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壹</a:t>
            </a:r>
            <a:endParaRPr lang="zh-CN" altLang="en-US" sz="66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964154" y="267936"/>
            <a:ext cx="6400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背景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35323" y="1252489"/>
            <a:ext cx="8673354" cy="3461964"/>
          </a:xfrm>
          <a:prstGeom prst="roundRect">
            <a:avLst>
              <a:gd name="adj" fmla="val 5653"/>
            </a:avLst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56870" y="1386840"/>
            <a:ext cx="8478520" cy="3618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目标：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为自主车辆在网格环境中找到最短、最平滑、高效且高成功率的全局路径。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现有问题：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1.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传统算法（如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A*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RRT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）在复杂环境中效率低，易陷入局部最优。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2.ACO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GA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单独使用时存在收敛慢、初始路径生成困难、路径不平滑等问题。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748030" y="3103245"/>
            <a:ext cx="1805305" cy="54038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56455" y="3103245"/>
            <a:ext cx="3047365" cy="540385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6" idx="1"/>
          </p:cNvCxnSpPr>
          <p:nvPr/>
        </p:nvCxnSpPr>
        <p:spPr>
          <a:xfrm>
            <a:off x="2553335" y="3373755"/>
            <a:ext cx="2103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75995" y="3165475"/>
            <a:ext cx="1349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</a:t>
            </a:r>
            <a:r>
              <a:rPr lang="zh-CN" altLang="en-US"/>
              <a:t>基于图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36490" y="3165475"/>
            <a:ext cx="3030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启发式搜索、深度学</a:t>
            </a:r>
            <a:r>
              <a:rPr lang="zh-CN" altLang="en-US"/>
              <a:t>习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2804159" y="2078911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方法及</a:t>
            </a: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创新点</a:t>
            </a:r>
            <a:endParaRPr lang="zh-CN" altLang="en-US" sz="4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2329" y="2848352"/>
            <a:ext cx="527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Research Methods And Processes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76504" y="3700731"/>
            <a:ext cx="6190992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Lorem ipsum dolor sit amet, consectetuer adipiscing elit. Aenean commodo ligula eget dolor. Cum sociis natoque penatibus et magnis dis parturient montes, nascetur ridiculus mus. 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871746" y="63523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044818" y="781493"/>
            <a:ext cx="10310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贰</a:t>
            </a:r>
            <a:endParaRPr lang="zh-CN" altLang="en-US" sz="66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964154" y="267936"/>
            <a:ext cx="15544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方法及</a:t>
            </a: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创新点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: 圆角 4"/>
          <p:cNvSpPr/>
          <p:nvPr/>
        </p:nvSpPr>
        <p:spPr>
          <a:xfrm>
            <a:off x="177800" y="1197610"/>
            <a:ext cx="8788400" cy="3616325"/>
          </a:xfrm>
          <a:prstGeom prst="roundRect">
            <a:avLst>
              <a:gd name="adj" fmla="val 5653"/>
            </a:avLst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56870" y="1386840"/>
            <a:ext cx="8478520" cy="22688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本文方法：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提出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MACOGA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算法，结合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ACO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和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GA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的优势：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蚁群优化中的信息素和启发式信息相结合，使改进的遗传算法生成更短、更平滑的路径，并减少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GA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固有的随机性，从而有利于路径获取；此外，引入了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路径简化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机制，采用路径重新连接操作以获得更短、更平滑的路径。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 bwMode="auto">
          <a:xfrm>
            <a:off x="964154" y="267936"/>
            <a:ext cx="15544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方法及</a:t>
            </a: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创新点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: 圆角 4"/>
          <p:cNvSpPr/>
          <p:nvPr/>
        </p:nvSpPr>
        <p:spPr>
          <a:xfrm>
            <a:off x="177800" y="1189990"/>
            <a:ext cx="8788400" cy="3616325"/>
          </a:xfrm>
          <a:prstGeom prst="roundRect">
            <a:avLst>
              <a:gd name="adj" fmla="val 5653"/>
            </a:avLst>
          </a:prstGeom>
          <a:solidFill>
            <a:schemeClr val="bg1"/>
          </a:solidFill>
          <a:ln>
            <a:noFill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32740" y="1216660"/>
            <a:ext cx="8478520" cy="358965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创新点：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1.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概率预测机制（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ACO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改进）：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动态预测下一节点的可用性，避免死胡同。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公式：结合节点选择概率与启发式信息（式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、式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9-11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），调整转移概率。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2.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改进的启发式函数：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结合节点到目标的距离和下一节点的可用选择数（式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9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），提升路径方向性。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3.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自适应概率的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GA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操作：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交叉和变异概率随适应度动态调整（式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13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），加速收敛。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4.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路径重连机制：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通过碰撞检测和节点合并，优化路径长度和平滑度。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 bwMode="auto">
          <a:xfrm>
            <a:off x="964154" y="267936"/>
            <a:ext cx="15544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关键公式</a:t>
            </a: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2740" y="838835"/>
            <a:ext cx="8478520" cy="42221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ACO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的节点转移概率（式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7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启发式值（式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9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GA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的适应度函数（式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自适应概率调整（式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</a:rPr>
              <a:t>13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）：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图片 3" descr="QQ20250419-1929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7175" y="700405"/>
            <a:ext cx="4151630" cy="875030"/>
          </a:xfrm>
          <a:prstGeom prst="rect">
            <a:avLst/>
          </a:prstGeom>
        </p:spPr>
      </p:pic>
      <p:pic>
        <p:nvPicPr>
          <p:cNvPr id="6" name="图片 5" descr="QQ20250419-1932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410" y="3865245"/>
            <a:ext cx="2322830" cy="904875"/>
          </a:xfrm>
          <a:prstGeom prst="rect">
            <a:avLst/>
          </a:prstGeom>
        </p:spPr>
      </p:pic>
      <p:pic>
        <p:nvPicPr>
          <p:cNvPr id="9" name="图片 8" descr="QQ20250419-1937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1685925"/>
            <a:ext cx="3001645" cy="870585"/>
          </a:xfrm>
          <a:prstGeom prst="rect">
            <a:avLst/>
          </a:prstGeom>
        </p:spPr>
      </p:pic>
      <p:pic>
        <p:nvPicPr>
          <p:cNvPr id="10" name="图片 9" descr="QQ20250419-1938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565" y="1685925"/>
            <a:ext cx="1894205" cy="880110"/>
          </a:xfrm>
          <a:prstGeom prst="rect">
            <a:avLst/>
          </a:prstGeom>
        </p:spPr>
      </p:pic>
      <p:pic>
        <p:nvPicPr>
          <p:cNvPr id="11" name="图片 10" descr="QQ20250419-1938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2667000"/>
            <a:ext cx="3957955" cy="901065"/>
          </a:xfrm>
          <a:prstGeom prst="rect">
            <a:avLst/>
          </a:prstGeom>
        </p:spPr>
      </p:pic>
      <p:pic>
        <p:nvPicPr>
          <p:cNvPr id="12" name="图片 11" descr="QQ20250419-1938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810" y="2676525"/>
            <a:ext cx="2202815" cy="9264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757545" y="739140"/>
            <a:ext cx="984250" cy="9124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47975" y="2168525"/>
            <a:ext cx="208280" cy="3594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670040" y="2513965"/>
            <a:ext cx="1953895" cy="12065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688715" y="3971925"/>
            <a:ext cx="143510" cy="2082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964154" y="267936"/>
            <a:ext cx="10972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流程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5455" y="974090"/>
            <a:ext cx="4107180" cy="16821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ts val="200"/>
              </a:spcAft>
              <a:buNone/>
            </a:pP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阶段一：改进</a:t>
            </a:r>
            <a:r>
              <a:rPr lang="en-US" altLang="zh-CN" sz="1400" b="1" i="0">
                <a:solidFill>
                  <a:srgbClr val="404040"/>
                </a:solidFill>
                <a:latin typeface="+mn-ea"/>
                <a:cs typeface="+mn-ea"/>
              </a:rPr>
              <a:t>ACO</a:t>
            </a: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生成初始路径</a:t>
            </a:r>
            <a:endParaRPr lang="zh-CN" altLang="en-US" sz="1400" b="1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输入：网格地图、起点、终点。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>
              <a:lnSpc>
                <a:spcPts val="1715"/>
              </a:lnSpc>
              <a:spcBef>
                <a:spcPct val="0"/>
              </a:spcBef>
              <a:spcAft>
                <a:spcPts val="200"/>
              </a:spcAft>
              <a:buFont typeface="Arial" panose="020B0604020202020204"/>
              <a:buChar char="◦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步骤：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初始化信息素和启发式值。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蚂蚁根据动态概率（式</a:t>
            </a:r>
            <a:r>
              <a:rPr lang="en-US" altLang="zh-CN" sz="1400" i="0">
                <a:solidFill>
                  <a:srgbClr val="404040"/>
                </a:solidFill>
                <a:latin typeface="+mn-ea"/>
                <a:cs typeface="+mn-ea"/>
              </a:rPr>
              <a:t>7</a:t>
            </a: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）选择路径。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通过路径质量更新信息素（式</a:t>
            </a:r>
            <a:r>
              <a:rPr lang="en-US" altLang="zh-CN" sz="1400" i="0">
                <a:solidFill>
                  <a:srgbClr val="404040"/>
                </a:solidFill>
                <a:latin typeface="+mn-ea"/>
                <a:cs typeface="+mn-ea"/>
              </a:rPr>
              <a:t>3</a:t>
            </a: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）。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i="0">
                <a:solidFill>
                  <a:srgbClr val="404040"/>
                </a:solidFill>
                <a:latin typeface="+mn-ea"/>
                <a:cs typeface="+mn-ea"/>
              </a:rPr>
              <a:t>输出多条可行初始路径。</a:t>
            </a:r>
            <a:endParaRPr lang="zh-CN" altLang="en-US" sz="1400" i="0">
              <a:solidFill>
                <a:srgbClr val="404040"/>
              </a:solidFill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5455" y="2768600"/>
            <a:ext cx="5727700" cy="16821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ts val="200"/>
              </a:spcAft>
              <a:buNone/>
            </a:pP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阶段二：增强</a:t>
            </a:r>
            <a:r>
              <a:rPr lang="en-US" altLang="zh-CN" sz="1400" b="1" i="0">
                <a:solidFill>
                  <a:srgbClr val="404040"/>
                </a:solidFill>
                <a:latin typeface="+mn-ea"/>
                <a:cs typeface="+mn-ea"/>
              </a:rPr>
              <a:t>GA</a:t>
            </a: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优化路径</a:t>
            </a:r>
            <a:endParaRPr lang="zh-CN" altLang="en-US" sz="1400" b="1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输入：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ACO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生成的路径。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>
              <a:lnSpc>
                <a:spcPts val="1715"/>
              </a:lnSpc>
              <a:spcBef>
                <a:spcPct val="0"/>
              </a:spcBef>
              <a:spcAft>
                <a:spcPts val="20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步骤：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选择：轮盘赌选择（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RWS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）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+ 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保留前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10%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精英个体。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交叉：基于公共节点的分段重组。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变异：使用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ACO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重新规划路径片段。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2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路径简化：合并重复节点，碰撞检测优化平滑度。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362959" y="2078911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实验复现</a:t>
            </a:r>
            <a:endParaRPr lang="zh-CN" altLang="en-US" sz="4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2329" y="2848352"/>
            <a:ext cx="527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Research Methods And Processes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76504" y="3700731"/>
            <a:ext cx="6190992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Lorem ipsum dolor sit amet, consectetuer adipiscing elit. Aenean commodo ligula eget dolor. Cum sociis natoque penatibus et magnis dis parturient montes, nascetur ridiculus mus. 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871746" y="63523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044818" y="781493"/>
            <a:ext cx="10310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叁</a:t>
            </a:r>
            <a:endParaRPr lang="zh-CN" altLang="en-US" sz="66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995" y="0"/>
            <a:ext cx="7698740" cy="24072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66766"/>
          <a:stretch>
            <a:fillRect/>
          </a:stretch>
        </p:blipFill>
        <p:spPr>
          <a:xfrm>
            <a:off x="131445" y="94615"/>
            <a:ext cx="3084195" cy="1750695"/>
          </a:xfrm>
          <a:prstGeom prst="rect">
            <a:avLst/>
          </a:prstGeom>
        </p:spPr>
      </p:pic>
      <p:pic>
        <p:nvPicPr>
          <p:cNvPr id="4" name="图片 3" descr="01_initial_environ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888490"/>
            <a:ext cx="2999740" cy="3060065"/>
          </a:xfrm>
          <a:prstGeom prst="rect">
            <a:avLst/>
          </a:prstGeom>
        </p:spPr>
      </p:pic>
      <p:sp>
        <p:nvSpPr>
          <p:cNvPr id="3" name="右箭头 2"/>
          <p:cNvSpPr/>
          <p:nvPr/>
        </p:nvSpPr>
        <p:spPr>
          <a:xfrm>
            <a:off x="3077210" y="739140"/>
            <a:ext cx="732790" cy="2800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10660" y="739140"/>
            <a:ext cx="1311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直接</a:t>
            </a:r>
            <a:r>
              <a:rPr lang="zh-CN" altLang="en-US"/>
              <a:t>采用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72790" y="2734310"/>
            <a:ext cx="3934460" cy="124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网格</a:t>
            </a:r>
            <a:r>
              <a:rPr lang="en-US" altLang="zh-CN"/>
              <a:t>15*15</a:t>
            </a:r>
            <a:r>
              <a:rPr lang="zh-CN" altLang="en-US"/>
              <a:t>，障碍物密度</a:t>
            </a:r>
            <a:r>
              <a:rPr lang="en-US" altLang="zh-CN"/>
              <a:t>0.23</a:t>
            </a:r>
            <a:endParaRPr lang="en-US" altLang="zh-CN"/>
          </a:p>
          <a:p>
            <a:r>
              <a:rPr lang="zh-CN" altLang="en-US"/>
              <a:t>若为</a:t>
            </a:r>
            <a:r>
              <a:rPr lang="en-US" altLang="zh-CN"/>
              <a:t>30*30</a:t>
            </a:r>
            <a:r>
              <a:rPr lang="zh-CN" altLang="en-US"/>
              <a:t>，可能需要降低障碍密度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QQ截图20250419205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364490"/>
            <a:ext cx="8007985" cy="4779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9230" y="78105"/>
            <a:ext cx="201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原论文</a:t>
            </a:r>
            <a:r>
              <a:rPr lang="zh-CN" altLang="en-US"/>
              <a:t>结果：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89230" y="78105"/>
            <a:ext cx="201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复现结果：</a:t>
            </a:r>
            <a:r>
              <a:rPr lang="en-US" altLang="zh-CN"/>
              <a:t>15*15</a:t>
            </a:r>
            <a:endParaRPr lang="en-US" altLang="zh-CN"/>
          </a:p>
        </p:txBody>
      </p:sp>
      <p:pic>
        <p:nvPicPr>
          <p:cNvPr id="10" name="图片 9" descr="02_aco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7985"/>
            <a:ext cx="3238500" cy="3164840"/>
          </a:xfrm>
          <a:prstGeom prst="rect">
            <a:avLst/>
          </a:prstGeom>
        </p:spPr>
      </p:pic>
      <p:pic>
        <p:nvPicPr>
          <p:cNvPr id="11" name="图片 10" descr="03_ga_optimiz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55" y="542290"/>
            <a:ext cx="3024505" cy="3085465"/>
          </a:xfrm>
          <a:prstGeom prst="rect">
            <a:avLst/>
          </a:prstGeom>
        </p:spPr>
      </p:pic>
      <p:pic>
        <p:nvPicPr>
          <p:cNvPr id="12" name="图片 11" descr="04_final_simplifi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50" y="542290"/>
            <a:ext cx="2950845" cy="30105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2_aco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0900"/>
            <a:ext cx="3300730" cy="3226435"/>
          </a:xfrm>
          <a:prstGeom prst="rect">
            <a:avLst/>
          </a:prstGeom>
        </p:spPr>
      </p:pic>
      <p:pic>
        <p:nvPicPr>
          <p:cNvPr id="4" name="图片 3" descr="03_ga_optimiz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365" y="1016635"/>
            <a:ext cx="2999740" cy="3060700"/>
          </a:xfrm>
          <a:prstGeom prst="rect">
            <a:avLst/>
          </a:prstGeom>
        </p:spPr>
      </p:pic>
      <p:pic>
        <p:nvPicPr>
          <p:cNvPr id="5" name="图片 4" descr="04_final_simplifi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40" y="1017270"/>
            <a:ext cx="2999105" cy="30600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9230" y="78105"/>
            <a:ext cx="2011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复现结果：</a:t>
            </a:r>
            <a:r>
              <a:rPr lang="en-US" altLang="zh-CN"/>
              <a:t>30*30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5_path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1905000"/>
            <a:ext cx="4961890" cy="3178175"/>
          </a:xfrm>
          <a:prstGeom prst="rect">
            <a:avLst/>
          </a:prstGeom>
        </p:spPr>
      </p:pic>
      <p:pic>
        <p:nvPicPr>
          <p:cNvPr id="5" name="图片 4" descr="05_path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0" y="0"/>
            <a:ext cx="4121150" cy="26396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9230" y="78105"/>
            <a:ext cx="257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复现结果：</a:t>
            </a:r>
            <a:r>
              <a:rPr lang="zh-CN" altLang="en-US"/>
              <a:t>路径对比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02310" y="426085"/>
            <a:ext cx="7966710" cy="19875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>
                <a:latin typeface="Calibri" panose="020F0502020204030204"/>
                <a:ea typeface="宋体" panose="02010600030101010101" pitchFamily="2" charset="-122"/>
              </a:rPr>
              <a:t>思考改进方向：</a:t>
            </a:r>
            <a:endParaRPr lang="zh-CN" altLang="en-US" sz="1700" b="1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1.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增加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ACO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的局部搜索策略（如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2-opt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优化）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2.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改进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GA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的变异操作，支持动态概率调整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3.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并行化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ACO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蚂蚁的路径搜索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4.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使用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Cython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加速关键计算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5.</a:t>
            </a:r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初始化信息素时加入随机扰动：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Calibri" panose="020F0502020204030204"/>
              </a:rPr>
              <a:t> # </a:t>
            </a:r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初始值范围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Calibri" panose="020F0502020204030204"/>
              </a:rPr>
              <a:t>[0.5,1.5]</a:t>
            </a:r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（容易）</a:t>
            </a:r>
            <a:endParaRPr lang="en-US" altLang="zh-CN" sz="1600">
              <a:solidFill>
                <a:schemeClr val="accent5">
                  <a:lumMod val="75000"/>
                </a:schemeClr>
              </a:solidFill>
              <a:latin typeface="Calibri" panose="020F0502020204030204"/>
              <a:ea typeface="Calibri" panose="020F0502020204030204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6.</a:t>
            </a:r>
            <a:r>
              <a:rPr lang="zh-CN" altLang="en-US" sz="1600">
                <a:solidFill>
                  <a:schemeClr val="accent5">
                    <a:lumMod val="75000"/>
                  </a:schemeClr>
                </a:solidFill>
                <a:latin typeface="Calibri" panose="020F0502020204030204"/>
                <a:ea typeface="宋体" panose="02010600030101010101" pitchFamily="2" charset="-122"/>
              </a:rPr>
              <a:t>提高无效路径的惩罚，加速寻找速度（容易）</a:t>
            </a:r>
            <a:endParaRPr lang="zh-CN" altLang="en-US" sz="1600">
              <a:solidFill>
                <a:schemeClr val="accent5">
                  <a:lumMod val="75000"/>
                </a:scheme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just" defTabSz="266700" latinLnBrk="1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7.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集成学习思想，多结合几种算法；改变顺序，先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GA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后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ACO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？或</a:t>
            </a:r>
            <a:r>
              <a:rPr lang="en-US" altLang="zh-CN" sz="1600">
                <a:latin typeface="Calibri" panose="020F0502020204030204"/>
                <a:ea typeface="宋体" panose="02010600030101010101" pitchFamily="2" charset="-122"/>
              </a:rPr>
              <a:t>PSO.........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3921759" y="2078911"/>
            <a:ext cx="13004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总结</a:t>
            </a:r>
            <a:endParaRPr lang="zh-CN" altLang="en-US" sz="4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2329" y="2848352"/>
            <a:ext cx="527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The Summary And Acknowledgment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76504" y="3700731"/>
            <a:ext cx="6190992" cy="552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5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Lorem ipsum dolor sit amet, consectetuer adipiscing elit. Aenean commodo ligula eget dolor. Cum sociis natoque penatibus et magnis dis parturient montes, nascetur ridiculus mus. </a:t>
            </a:r>
            <a:endParaRPr lang="en-US" altLang="zh-CN" sz="105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871746" y="63523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044818" y="781493"/>
            <a:ext cx="10310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肆</a:t>
            </a:r>
            <a:endParaRPr lang="zh-CN" altLang="en-US" sz="66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964154" y="267936"/>
            <a:ext cx="10972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6695" y="1159192"/>
            <a:ext cx="5080000" cy="1650365"/>
          </a:xfrm>
          <a:prstGeom prst="rect">
            <a:avLst/>
          </a:prstGeom>
        </p:spPr>
        <p:txBody>
          <a:bodyPr>
            <a:spAutoFit/>
          </a:bodyPr>
          <a:p>
            <a:pPr marL="0" indent="0" fontAlgn="auto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优势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：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融合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ACO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的局部搜索能力与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GA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的全局优化。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动态概率机制提升初始路径生成效率。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路径重连机制确保平滑性和安全性。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indent="0" fontAlgn="auto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不足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：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参数设置依赖经验（如种群大小、迭代次数）。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lvl="1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迷宫环境中路径长度略逊于</a:t>
            </a:r>
            <a:r>
              <a:rPr lang="en-US" altLang="zh-CN" sz="1400" b="0" i="0">
                <a:solidFill>
                  <a:srgbClr val="404040"/>
                </a:solidFill>
                <a:latin typeface="+mn-ea"/>
                <a:cs typeface="+mn-ea"/>
              </a:rPr>
              <a:t>A*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（需进一步优化）。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67860" y="3364230"/>
            <a:ext cx="4620895" cy="10737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715"/>
              </a:lnSpc>
              <a:spcBef>
                <a:spcPts val="1000"/>
              </a:spcBef>
              <a:spcAft>
                <a:spcPts val="800"/>
              </a:spcAft>
            </a:pPr>
            <a:endParaRPr lang="zh-CN" altLang="en-US" sz="1400" b="1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动态避障：扩展至动态环境中的</a:t>
            </a: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实时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路径规划。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群体机器人：利用生成的多条路径实现</a:t>
            </a: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协同导航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  <a:p>
            <a:pPr marL="0" indent="0">
              <a:lnSpc>
                <a:spcPts val="1715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rgbClr val="404040"/>
                </a:solidFill>
                <a:latin typeface="+mn-ea"/>
                <a:cs typeface="+mn-ea"/>
              </a:rPr>
              <a:t>参数自适应</a:t>
            </a:r>
            <a:r>
              <a:rPr lang="zh-CN" altLang="en-US" sz="1400" b="0" i="0">
                <a:solidFill>
                  <a:srgbClr val="404040"/>
                </a:solidFill>
                <a:latin typeface="+mn-ea"/>
                <a:cs typeface="+mn-ea"/>
              </a:rPr>
              <a:t>：减少人工调参，提升算法鲁棒性。</a:t>
            </a:r>
            <a:endParaRPr lang="zh-CN" altLang="en-US" sz="1400" b="0" i="0">
              <a:solidFill>
                <a:srgbClr val="404040"/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018540" y="3716655"/>
            <a:ext cx="2223135" cy="849630"/>
          </a:xfrm>
          <a:prstGeom prst="rect">
            <a:avLst/>
          </a:prstGeom>
          <a:ln>
            <a:noFill/>
          </a:ln>
        </p:spPr>
        <p:txBody>
          <a:bodyPr wrap="none">
            <a:noAutofit/>
          </a:bodyPr>
          <a:p>
            <a:pPr>
              <a:defRPr/>
            </a:pP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022824" y="3878546"/>
            <a:ext cx="13258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未来与展望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708999" y="1442051"/>
            <a:ext cx="1325880" cy="3683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优势与不足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963930" y="267970"/>
            <a:ext cx="512064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个人总结</a:t>
            </a:r>
            <a:r>
              <a:rPr lang="en-US" altLang="zh-CN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</a:t>
            </a:r>
            <a:r>
              <a:rPr lang="zh-CN" altLang="en-US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需要提升：</a:t>
            </a:r>
            <a:endParaRPr lang="zh-CN" altLang="en-US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26473" y="222966"/>
            <a:ext cx="6046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2800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>
            <p:custDataLst>
              <p:tags r:id="rId1"/>
            </p:custDataLst>
          </p:nvPr>
        </p:nvSpPr>
        <p:spPr bwMode="auto">
          <a:xfrm>
            <a:off x="539750" y="1543050"/>
            <a:ext cx="2313305" cy="427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-&gt;code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能力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矩形 63"/>
          <p:cNvSpPr/>
          <p:nvPr>
            <p:custDataLst>
              <p:tags r:id="rId2"/>
            </p:custDataLst>
          </p:nvPr>
        </p:nvSpPr>
        <p:spPr bwMode="auto">
          <a:xfrm>
            <a:off x="539750" y="3019425"/>
            <a:ext cx="2622550" cy="9785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复现没有开源代码的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论文：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完整工程从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0-&gt;1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>
            <p:custDataLst>
              <p:tags r:id="rId3"/>
            </p:custDataLst>
          </p:nvPr>
        </p:nvSpPr>
        <p:spPr bwMode="auto">
          <a:xfrm>
            <a:off x="4500880" y="1021080"/>
            <a:ext cx="4435475" cy="1028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编写技术文档：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进展文档：遇到的困难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自己的思考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defRPr/>
            </a:pP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README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文档：方便他人了解项目与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后期维护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>
            <p:custDataLst>
              <p:tags r:id="rId4"/>
            </p:custDataLst>
          </p:nvPr>
        </p:nvSpPr>
        <p:spPr bwMode="auto">
          <a:xfrm>
            <a:off x="5280660" y="3019425"/>
            <a:ext cx="3562985" cy="698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文献阅读能力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理解能力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表述能力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关注：创新点</a:t>
            </a:r>
            <a:r>
              <a:rPr lang="en-US" altLang="zh-CN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可参考</a:t>
            </a: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之处</a:t>
            </a:r>
            <a:endParaRPr lang="zh-CN" altLang="en-US" sz="1600" b="1" kern="1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弦形 1"/>
          <p:cNvSpPr/>
          <p:nvPr>
            <p:custDataLst>
              <p:tags r:id="rId5"/>
            </p:custDataLst>
          </p:nvPr>
        </p:nvSpPr>
        <p:spPr>
          <a:xfrm>
            <a:off x="3795052" y="1522327"/>
            <a:ext cx="1300293" cy="1300293"/>
          </a:xfrm>
          <a:prstGeom prst="chord">
            <a:avLst>
              <a:gd name="adj1" fmla="val 5313806"/>
              <a:gd name="adj2" fmla="val 16403178"/>
            </a:avLst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弦形 33"/>
          <p:cNvSpPr/>
          <p:nvPr>
            <p:custDataLst>
              <p:tags r:id="rId6"/>
            </p:custDataLst>
          </p:nvPr>
        </p:nvSpPr>
        <p:spPr>
          <a:xfrm rot="5400000">
            <a:off x="4501800" y="2156180"/>
            <a:ext cx="1300293" cy="1300293"/>
          </a:xfrm>
          <a:prstGeom prst="chord">
            <a:avLst>
              <a:gd name="adj1" fmla="val 5313806"/>
              <a:gd name="adj2" fmla="val 16403178"/>
            </a:avLst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弦形 34"/>
          <p:cNvSpPr/>
          <p:nvPr>
            <p:custDataLst>
              <p:tags r:id="rId7"/>
            </p:custDataLst>
          </p:nvPr>
        </p:nvSpPr>
        <p:spPr>
          <a:xfrm rot="10800000">
            <a:off x="3869874" y="2863299"/>
            <a:ext cx="1300293" cy="1300293"/>
          </a:xfrm>
          <a:prstGeom prst="chord">
            <a:avLst>
              <a:gd name="adj1" fmla="val 5313806"/>
              <a:gd name="adj2" fmla="val 16403178"/>
            </a:avLst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弦形 35"/>
          <p:cNvSpPr/>
          <p:nvPr>
            <p:custDataLst>
              <p:tags r:id="rId8"/>
            </p:custDataLst>
          </p:nvPr>
        </p:nvSpPr>
        <p:spPr>
          <a:xfrm rot="16200000">
            <a:off x="3163126" y="2229447"/>
            <a:ext cx="1300293" cy="1300293"/>
          </a:xfrm>
          <a:prstGeom prst="chord">
            <a:avLst>
              <a:gd name="adj1" fmla="val 5313806"/>
              <a:gd name="adj2" fmla="val 16403178"/>
            </a:avLst>
          </a:prstGeom>
          <a:solidFill>
            <a:srgbClr val="42556C"/>
          </a:solidFill>
          <a:ln w="3810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AutoShape 59"/>
          <p:cNvSpPr/>
          <p:nvPr>
            <p:custDataLst>
              <p:tags r:id="rId9"/>
            </p:custDataLst>
          </p:nvPr>
        </p:nvSpPr>
        <p:spPr bwMode="auto">
          <a:xfrm>
            <a:off x="4919882" y="2366985"/>
            <a:ext cx="360362" cy="358775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38" name="AutoShape 112"/>
          <p:cNvSpPr/>
          <p:nvPr>
            <p:custDataLst>
              <p:tags r:id="rId10"/>
            </p:custDataLst>
          </p:nvPr>
        </p:nvSpPr>
        <p:spPr bwMode="auto">
          <a:xfrm>
            <a:off x="3631451" y="2980787"/>
            <a:ext cx="360363" cy="35877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39" name="组合 38"/>
          <p:cNvGrpSpPr/>
          <p:nvPr>
            <p:custDataLst>
              <p:tags r:id="rId11"/>
            </p:custDataLst>
          </p:nvPr>
        </p:nvGrpSpPr>
        <p:grpSpPr>
          <a:xfrm>
            <a:off x="4680517" y="3357795"/>
            <a:ext cx="246811" cy="359779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40" name="AutoShape 113"/>
            <p:cNvSpPr/>
            <p:nvPr>
              <p:custDataLst>
                <p:tags r:id="rId12"/>
              </p:custDataLst>
            </p:nvPr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1" name="AutoShape 114"/>
            <p:cNvSpPr/>
            <p:nvPr>
              <p:custDataLst>
                <p:tags r:id="rId13"/>
              </p:custDataLst>
            </p:nvPr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42" name="Group 124"/>
          <p:cNvGrpSpPr/>
          <p:nvPr>
            <p:custDataLst>
              <p:tags r:id="rId14"/>
            </p:custDataLst>
          </p:nvPr>
        </p:nvGrpSpPr>
        <p:grpSpPr>
          <a:xfrm>
            <a:off x="3966926" y="1970988"/>
            <a:ext cx="359779" cy="302680"/>
            <a:chOff x="5368132" y="2625725"/>
            <a:chExt cx="465138" cy="391319"/>
          </a:xfrm>
          <a:solidFill>
            <a:schemeClr val="bg1"/>
          </a:solidFill>
        </p:grpSpPr>
        <p:sp>
          <p:nvSpPr>
            <p:cNvPr id="43" name="AutoShape 120"/>
            <p:cNvSpPr/>
            <p:nvPr>
              <p:custDataLst>
                <p:tags r:id="rId15"/>
              </p:custDataLst>
            </p:nvPr>
          </p:nvSpPr>
          <p:spPr bwMode="auto">
            <a:xfrm>
              <a:off x="5484813" y="272732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5" name="AutoShape 121"/>
            <p:cNvSpPr/>
            <p:nvPr>
              <p:custDataLst>
                <p:tags r:id="rId16"/>
              </p:custDataLst>
            </p:nvPr>
          </p:nvSpPr>
          <p:spPr bwMode="auto">
            <a:xfrm>
              <a:off x="5542757" y="278526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6" name="AutoShape 122"/>
            <p:cNvSpPr/>
            <p:nvPr>
              <p:custDataLst>
                <p:tags r:id="rId17"/>
              </p:custDataLst>
            </p:nvPr>
          </p:nvSpPr>
          <p:spPr bwMode="auto">
            <a:xfrm>
              <a:off x="5368132" y="262572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: 形状 48"/>
          <p:cNvSpPr/>
          <p:nvPr/>
        </p:nvSpPr>
        <p:spPr>
          <a:xfrm>
            <a:off x="-7942" y="13943"/>
            <a:ext cx="9151942" cy="3341500"/>
          </a:xfrm>
          <a:custGeom>
            <a:avLst/>
            <a:gdLst>
              <a:gd name="connsiteX0" fmla="*/ 0 w 9151942"/>
              <a:gd name="connsiteY0" fmla="*/ 0 h 3341500"/>
              <a:gd name="connsiteX1" fmla="*/ 9151942 w 9151942"/>
              <a:gd name="connsiteY1" fmla="*/ 0 h 3341500"/>
              <a:gd name="connsiteX2" fmla="*/ 9151942 w 9151942"/>
              <a:gd name="connsiteY2" fmla="*/ 2825997 h 3341500"/>
              <a:gd name="connsiteX3" fmla="*/ 8685767 w 9151942"/>
              <a:gd name="connsiteY3" fmla="*/ 2938710 h 3341500"/>
              <a:gd name="connsiteX4" fmla="*/ 4768288 w 9151942"/>
              <a:gd name="connsiteY4" fmla="*/ 3341500 h 3341500"/>
              <a:gd name="connsiteX5" fmla="*/ 153838 w 9151942"/>
              <a:gd name="connsiteY5" fmla="*/ 2770195 h 3341500"/>
              <a:gd name="connsiteX6" fmla="*/ 0 w 9151942"/>
              <a:gd name="connsiteY6" fmla="*/ 2724930 h 334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41500">
                <a:moveTo>
                  <a:pt x="0" y="0"/>
                </a:moveTo>
                <a:lnTo>
                  <a:pt x="9151942" y="0"/>
                </a:lnTo>
                <a:lnTo>
                  <a:pt x="9151942" y="2825997"/>
                </a:lnTo>
                <a:lnTo>
                  <a:pt x="8685767" y="2938710"/>
                </a:lnTo>
                <a:cubicBezTo>
                  <a:pt x="7495780" y="3197153"/>
                  <a:pt x="6168275" y="3341500"/>
                  <a:pt x="4768288" y="3341500"/>
                </a:cubicBezTo>
                <a:cubicBezTo>
                  <a:pt x="3088305" y="3341500"/>
                  <a:pt x="1512694" y="3133641"/>
                  <a:pt x="153838" y="2770195"/>
                </a:cubicBezTo>
                <a:lnTo>
                  <a:pt x="0" y="272493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-7942" y="1"/>
            <a:ext cx="9151942" cy="3355442"/>
          </a:xfrm>
          <a:custGeom>
            <a:avLst/>
            <a:gdLst>
              <a:gd name="connsiteX0" fmla="*/ 0 w 9151942"/>
              <a:gd name="connsiteY0" fmla="*/ 0 h 3332251"/>
              <a:gd name="connsiteX1" fmla="*/ 9151942 w 9151942"/>
              <a:gd name="connsiteY1" fmla="*/ 0 h 3332251"/>
              <a:gd name="connsiteX2" fmla="*/ 9151942 w 9151942"/>
              <a:gd name="connsiteY2" fmla="*/ 2565993 h 3332251"/>
              <a:gd name="connsiteX3" fmla="*/ 9136134 w 9151942"/>
              <a:gd name="connsiteY3" fmla="*/ 2572659 h 3332251"/>
              <a:gd name="connsiteX4" fmla="*/ 4575971 w 9151942"/>
              <a:gd name="connsiteY4" fmla="*/ 3332251 h 3332251"/>
              <a:gd name="connsiteX5" fmla="*/ 15808 w 9151942"/>
              <a:gd name="connsiteY5" fmla="*/ 2572659 h 3332251"/>
              <a:gd name="connsiteX6" fmla="*/ 0 w 9151942"/>
              <a:gd name="connsiteY6" fmla="*/ 2565993 h 3332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1942" h="3332251">
                <a:moveTo>
                  <a:pt x="0" y="0"/>
                </a:moveTo>
                <a:lnTo>
                  <a:pt x="9151942" y="0"/>
                </a:lnTo>
                <a:lnTo>
                  <a:pt x="9151942" y="2565993"/>
                </a:lnTo>
                <a:lnTo>
                  <a:pt x="9136134" y="2572659"/>
                </a:lnTo>
                <a:cubicBezTo>
                  <a:pt x="7896905" y="3047192"/>
                  <a:pt x="6308183" y="3332251"/>
                  <a:pt x="4575971" y="3332251"/>
                </a:cubicBezTo>
                <a:cubicBezTo>
                  <a:pt x="2843760" y="3332251"/>
                  <a:pt x="1255037" y="3047192"/>
                  <a:pt x="15808" y="2572659"/>
                </a:cubicBezTo>
                <a:lnTo>
                  <a:pt x="0" y="25659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2804160" y="2078911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感谢批评指正</a:t>
            </a:r>
            <a:endParaRPr lang="zh-CN" altLang="en-US" sz="4400" b="1" kern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2329" y="2848352"/>
            <a:ext cx="527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Arial" panose="020B0604020202020204"/>
              </a:rPr>
              <a:t>THANK YOU EXPERTS FOR YOUR CRITICISM</a:t>
            </a:r>
            <a:endParaRPr lang="en-US" altLang="zh-CN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71769" y="3921614"/>
            <a:ext cx="1622662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学生：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</a:rPr>
              <a:t>ljp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566601" y="3907529"/>
            <a:ext cx="305168" cy="305168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Freeform 27"/>
          <p:cNvSpPr>
            <a:spLocks noEditPoints="1"/>
          </p:cNvSpPr>
          <p:nvPr/>
        </p:nvSpPr>
        <p:spPr bwMode="auto">
          <a:xfrm>
            <a:off x="3635572" y="3943339"/>
            <a:ext cx="167227" cy="233549"/>
          </a:xfrm>
          <a:custGeom>
            <a:avLst/>
            <a:gdLst>
              <a:gd name="T0" fmla="*/ 20 w 204"/>
              <a:gd name="T1" fmla="*/ 87 h 285"/>
              <a:gd name="T2" fmla="*/ 49 w 204"/>
              <a:gd name="T3" fmla="*/ 64 h 285"/>
              <a:gd name="T4" fmla="*/ 66 w 204"/>
              <a:gd name="T5" fmla="*/ 64 h 285"/>
              <a:gd name="T6" fmla="*/ 72 w 204"/>
              <a:gd name="T7" fmla="*/ 73 h 285"/>
              <a:gd name="T8" fmla="*/ 78 w 204"/>
              <a:gd name="T9" fmla="*/ 64 h 285"/>
              <a:gd name="T10" fmla="*/ 92 w 204"/>
              <a:gd name="T11" fmla="*/ 64 h 285"/>
              <a:gd name="T12" fmla="*/ 122 w 204"/>
              <a:gd name="T13" fmla="*/ 87 h 285"/>
              <a:gd name="T14" fmla="*/ 122 w 204"/>
              <a:gd name="T15" fmla="*/ 117 h 285"/>
              <a:gd name="T16" fmla="*/ 104 w 204"/>
              <a:gd name="T17" fmla="*/ 117 h 285"/>
              <a:gd name="T18" fmla="*/ 104 w 204"/>
              <a:gd name="T19" fmla="*/ 91 h 285"/>
              <a:gd name="T20" fmla="*/ 98 w 204"/>
              <a:gd name="T21" fmla="*/ 91 h 285"/>
              <a:gd name="T22" fmla="*/ 98 w 204"/>
              <a:gd name="T23" fmla="*/ 117 h 285"/>
              <a:gd name="T24" fmla="*/ 43 w 204"/>
              <a:gd name="T25" fmla="*/ 117 h 285"/>
              <a:gd name="T26" fmla="*/ 43 w 204"/>
              <a:gd name="T27" fmla="*/ 91 h 285"/>
              <a:gd name="T28" fmla="*/ 38 w 204"/>
              <a:gd name="T29" fmla="*/ 91 h 285"/>
              <a:gd name="T30" fmla="*/ 38 w 204"/>
              <a:gd name="T31" fmla="*/ 117 h 285"/>
              <a:gd name="T32" fmla="*/ 20 w 204"/>
              <a:gd name="T33" fmla="*/ 117 h 285"/>
              <a:gd name="T34" fmla="*/ 20 w 204"/>
              <a:gd name="T35" fmla="*/ 87 h 285"/>
              <a:gd name="T36" fmla="*/ 72 w 204"/>
              <a:gd name="T37" fmla="*/ 57 h 285"/>
              <a:gd name="T38" fmla="*/ 93 w 204"/>
              <a:gd name="T39" fmla="*/ 35 h 285"/>
              <a:gd name="T40" fmla="*/ 72 w 204"/>
              <a:gd name="T41" fmla="*/ 14 h 285"/>
              <a:gd name="T42" fmla="*/ 50 w 204"/>
              <a:gd name="T43" fmla="*/ 35 h 285"/>
              <a:gd name="T44" fmla="*/ 72 w 204"/>
              <a:gd name="T45" fmla="*/ 57 h 285"/>
              <a:gd name="T46" fmla="*/ 43 w 204"/>
              <a:gd name="T47" fmla="*/ 285 h 285"/>
              <a:gd name="T48" fmla="*/ 98 w 204"/>
              <a:gd name="T49" fmla="*/ 285 h 285"/>
              <a:gd name="T50" fmla="*/ 124 w 204"/>
              <a:gd name="T51" fmla="*/ 147 h 285"/>
              <a:gd name="T52" fmla="*/ 17 w 204"/>
              <a:gd name="T53" fmla="*/ 147 h 285"/>
              <a:gd name="T54" fmla="*/ 43 w 204"/>
              <a:gd name="T55" fmla="*/ 285 h 285"/>
              <a:gd name="T56" fmla="*/ 204 w 204"/>
              <a:gd name="T57" fmla="*/ 29 h 285"/>
              <a:gd name="T58" fmla="*/ 166 w 204"/>
              <a:gd name="T59" fmla="*/ 58 h 285"/>
              <a:gd name="T60" fmla="*/ 135 w 204"/>
              <a:gd name="T61" fmla="*/ 73 h 285"/>
              <a:gd name="T62" fmla="*/ 144 w 204"/>
              <a:gd name="T63" fmla="*/ 55 h 285"/>
              <a:gd name="T64" fmla="*/ 122 w 204"/>
              <a:gd name="T65" fmla="*/ 29 h 285"/>
              <a:gd name="T66" fmla="*/ 163 w 204"/>
              <a:gd name="T67" fmla="*/ 0 h 285"/>
              <a:gd name="T68" fmla="*/ 204 w 204"/>
              <a:gd name="T69" fmla="*/ 29 h 285"/>
              <a:gd name="T70" fmla="*/ 187 w 204"/>
              <a:gd name="T71" fmla="*/ 36 h 285"/>
              <a:gd name="T72" fmla="*/ 185 w 204"/>
              <a:gd name="T73" fmla="*/ 34 h 285"/>
              <a:gd name="T74" fmla="*/ 141 w 204"/>
              <a:gd name="T75" fmla="*/ 34 h 285"/>
              <a:gd name="T76" fmla="*/ 139 w 204"/>
              <a:gd name="T77" fmla="*/ 36 h 285"/>
              <a:gd name="T78" fmla="*/ 141 w 204"/>
              <a:gd name="T79" fmla="*/ 39 h 285"/>
              <a:gd name="T80" fmla="*/ 185 w 204"/>
              <a:gd name="T81" fmla="*/ 39 h 285"/>
              <a:gd name="T82" fmla="*/ 187 w 204"/>
              <a:gd name="T83" fmla="*/ 36 h 285"/>
              <a:gd name="T84" fmla="*/ 187 w 204"/>
              <a:gd name="T85" fmla="*/ 22 h 285"/>
              <a:gd name="T86" fmla="*/ 185 w 204"/>
              <a:gd name="T87" fmla="*/ 20 h 285"/>
              <a:gd name="T88" fmla="*/ 141 w 204"/>
              <a:gd name="T89" fmla="*/ 20 h 285"/>
              <a:gd name="T90" fmla="*/ 139 w 204"/>
              <a:gd name="T91" fmla="*/ 22 h 285"/>
              <a:gd name="T92" fmla="*/ 141 w 204"/>
              <a:gd name="T93" fmla="*/ 25 h 285"/>
              <a:gd name="T94" fmla="*/ 185 w 204"/>
              <a:gd name="T95" fmla="*/ 25 h 285"/>
              <a:gd name="T96" fmla="*/ 187 w 204"/>
              <a:gd name="T97" fmla="*/ 22 h 285"/>
              <a:gd name="T98" fmla="*/ 0 w 204"/>
              <a:gd name="T99" fmla="*/ 141 h 285"/>
              <a:gd name="T100" fmla="*/ 141 w 204"/>
              <a:gd name="T101" fmla="*/ 141 h 285"/>
              <a:gd name="T102" fmla="*/ 141 w 204"/>
              <a:gd name="T103" fmla="*/ 121 h 285"/>
              <a:gd name="T104" fmla="*/ 0 w 204"/>
              <a:gd name="T105" fmla="*/ 121 h 285"/>
              <a:gd name="T106" fmla="*/ 0 w 204"/>
              <a:gd name="T107" fmla="*/ 141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4" h="285">
                <a:moveTo>
                  <a:pt x="20" y="87"/>
                </a:moveTo>
                <a:cubicBezTo>
                  <a:pt x="20" y="87"/>
                  <a:pt x="18" y="64"/>
                  <a:pt x="49" y="64"/>
                </a:cubicBezTo>
                <a:cubicBezTo>
                  <a:pt x="66" y="64"/>
                  <a:pt x="66" y="64"/>
                  <a:pt x="66" y="64"/>
                </a:cubicBezTo>
                <a:cubicBezTo>
                  <a:pt x="72" y="73"/>
                  <a:pt x="72" y="73"/>
                  <a:pt x="72" y="73"/>
                </a:cubicBezTo>
                <a:cubicBezTo>
                  <a:pt x="78" y="64"/>
                  <a:pt x="78" y="64"/>
                  <a:pt x="78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2" y="64"/>
                  <a:pt x="120" y="63"/>
                  <a:pt x="122" y="87"/>
                </a:cubicBezTo>
                <a:cubicBezTo>
                  <a:pt x="122" y="117"/>
                  <a:pt x="122" y="117"/>
                  <a:pt x="122" y="117"/>
                </a:cubicBezTo>
                <a:cubicBezTo>
                  <a:pt x="104" y="117"/>
                  <a:pt x="104" y="117"/>
                  <a:pt x="104" y="117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98" y="91"/>
                  <a:pt x="98" y="91"/>
                  <a:pt x="98" y="91"/>
                </a:cubicBezTo>
                <a:cubicBezTo>
                  <a:pt x="98" y="117"/>
                  <a:pt x="98" y="117"/>
                  <a:pt x="98" y="117"/>
                </a:cubicBezTo>
                <a:cubicBezTo>
                  <a:pt x="43" y="117"/>
                  <a:pt x="43" y="117"/>
                  <a:pt x="43" y="117"/>
                </a:cubicBezTo>
                <a:cubicBezTo>
                  <a:pt x="43" y="91"/>
                  <a:pt x="43" y="91"/>
                  <a:pt x="43" y="91"/>
                </a:cubicBezTo>
                <a:cubicBezTo>
                  <a:pt x="38" y="91"/>
                  <a:pt x="38" y="91"/>
                  <a:pt x="38" y="91"/>
                </a:cubicBezTo>
                <a:cubicBezTo>
                  <a:pt x="38" y="117"/>
                  <a:pt x="38" y="117"/>
                  <a:pt x="38" y="117"/>
                </a:cubicBezTo>
                <a:cubicBezTo>
                  <a:pt x="20" y="117"/>
                  <a:pt x="20" y="117"/>
                  <a:pt x="20" y="117"/>
                </a:cubicBezTo>
                <a:lnTo>
                  <a:pt x="20" y="87"/>
                </a:lnTo>
                <a:close/>
                <a:moveTo>
                  <a:pt x="72" y="57"/>
                </a:moveTo>
                <a:cubicBezTo>
                  <a:pt x="84" y="57"/>
                  <a:pt x="93" y="47"/>
                  <a:pt x="93" y="35"/>
                </a:cubicBezTo>
                <a:cubicBezTo>
                  <a:pt x="93" y="23"/>
                  <a:pt x="84" y="14"/>
                  <a:pt x="72" y="14"/>
                </a:cubicBezTo>
                <a:cubicBezTo>
                  <a:pt x="60" y="14"/>
                  <a:pt x="50" y="23"/>
                  <a:pt x="50" y="35"/>
                </a:cubicBezTo>
                <a:cubicBezTo>
                  <a:pt x="50" y="47"/>
                  <a:pt x="60" y="57"/>
                  <a:pt x="72" y="57"/>
                </a:cubicBezTo>
                <a:close/>
                <a:moveTo>
                  <a:pt x="43" y="285"/>
                </a:moveTo>
                <a:cubicBezTo>
                  <a:pt x="98" y="285"/>
                  <a:pt x="98" y="285"/>
                  <a:pt x="98" y="285"/>
                </a:cubicBezTo>
                <a:cubicBezTo>
                  <a:pt x="124" y="147"/>
                  <a:pt x="124" y="147"/>
                  <a:pt x="124" y="147"/>
                </a:cubicBezTo>
                <a:cubicBezTo>
                  <a:pt x="17" y="147"/>
                  <a:pt x="17" y="147"/>
                  <a:pt x="17" y="147"/>
                </a:cubicBezTo>
                <a:lnTo>
                  <a:pt x="43" y="285"/>
                </a:lnTo>
                <a:close/>
                <a:moveTo>
                  <a:pt x="204" y="29"/>
                </a:moveTo>
                <a:cubicBezTo>
                  <a:pt x="204" y="45"/>
                  <a:pt x="187" y="57"/>
                  <a:pt x="166" y="58"/>
                </a:cubicBezTo>
                <a:cubicBezTo>
                  <a:pt x="154" y="67"/>
                  <a:pt x="135" y="73"/>
                  <a:pt x="135" y="73"/>
                </a:cubicBezTo>
                <a:cubicBezTo>
                  <a:pt x="144" y="64"/>
                  <a:pt x="145" y="58"/>
                  <a:pt x="144" y="55"/>
                </a:cubicBezTo>
                <a:cubicBezTo>
                  <a:pt x="131" y="50"/>
                  <a:pt x="122" y="41"/>
                  <a:pt x="122" y="29"/>
                </a:cubicBezTo>
                <a:cubicBezTo>
                  <a:pt x="122" y="13"/>
                  <a:pt x="140" y="0"/>
                  <a:pt x="163" y="0"/>
                </a:cubicBezTo>
                <a:cubicBezTo>
                  <a:pt x="186" y="0"/>
                  <a:pt x="204" y="13"/>
                  <a:pt x="204" y="29"/>
                </a:cubicBezTo>
                <a:close/>
                <a:moveTo>
                  <a:pt x="187" y="36"/>
                </a:moveTo>
                <a:cubicBezTo>
                  <a:pt x="187" y="35"/>
                  <a:pt x="186" y="34"/>
                  <a:pt x="185" y="34"/>
                </a:cubicBezTo>
                <a:cubicBezTo>
                  <a:pt x="141" y="34"/>
                  <a:pt x="141" y="34"/>
                  <a:pt x="141" y="34"/>
                </a:cubicBezTo>
                <a:cubicBezTo>
                  <a:pt x="140" y="34"/>
                  <a:pt x="139" y="35"/>
                  <a:pt x="139" y="36"/>
                </a:cubicBezTo>
                <a:cubicBezTo>
                  <a:pt x="139" y="38"/>
                  <a:pt x="140" y="39"/>
                  <a:pt x="141" y="39"/>
                </a:cubicBezTo>
                <a:cubicBezTo>
                  <a:pt x="185" y="39"/>
                  <a:pt x="185" y="39"/>
                  <a:pt x="185" y="39"/>
                </a:cubicBezTo>
                <a:cubicBezTo>
                  <a:pt x="186" y="39"/>
                  <a:pt x="187" y="38"/>
                  <a:pt x="187" y="36"/>
                </a:cubicBezTo>
                <a:close/>
                <a:moveTo>
                  <a:pt x="187" y="22"/>
                </a:moveTo>
                <a:cubicBezTo>
                  <a:pt x="187" y="21"/>
                  <a:pt x="186" y="20"/>
                  <a:pt x="185" y="20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40" y="20"/>
                  <a:pt x="139" y="21"/>
                  <a:pt x="139" y="22"/>
                </a:cubicBezTo>
                <a:cubicBezTo>
                  <a:pt x="139" y="24"/>
                  <a:pt x="140" y="25"/>
                  <a:pt x="141" y="25"/>
                </a:cubicBezTo>
                <a:cubicBezTo>
                  <a:pt x="185" y="25"/>
                  <a:pt x="185" y="25"/>
                  <a:pt x="185" y="25"/>
                </a:cubicBezTo>
                <a:cubicBezTo>
                  <a:pt x="186" y="25"/>
                  <a:pt x="187" y="24"/>
                  <a:pt x="187" y="22"/>
                </a:cubicBezTo>
                <a:close/>
                <a:moveTo>
                  <a:pt x="0" y="141"/>
                </a:moveTo>
                <a:cubicBezTo>
                  <a:pt x="141" y="141"/>
                  <a:pt x="141" y="141"/>
                  <a:pt x="141" y="141"/>
                </a:cubicBezTo>
                <a:cubicBezTo>
                  <a:pt x="141" y="121"/>
                  <a:pt x="141" y="121"/>
                  <a:pt x="141" y="121"/>
                </a:cubicBezTo>
                <a:cubicBezTo>
                  <a:pt x="0" y="121"/>
                  <a:pt x="0" y="121"/>
                  <a:pt x="0" y="121"/>
                </a:cubicBezTo>
                <a:lnTo>
                  <a:pt x="0" y="1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3871746" y="635237"/>
            <a:ext cx="1400508" cy="1400508"/>
          </a:xfrm>
          <a:prstGeom prst="ellipse">
            <a:avLst/>
          </a:prstGeom>
          <a:solidFill>
            <a:srgbClr val="42556C"/>
          </a:solidFill>
          <a:ln w="57150">
            <a:solidFill>
              <a:schemeClr val="bg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095423" y="932055"/>
            <a:ext cx="953154" cy="831386"/>
            <a:chOff x="4675188" y="2882900"/>
            <a:chExt cx="360362" cy="314325"/>
          </a:xfrm>
        </p:grpSpPr>
        <p:sp>
          <p:nvSpPr>
            <p:cNvPr id="44" name="AutoShape 43"/>
            <p:cNvSpPr/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5" name="AutoShape 44"/>
            <p:cNvSpPr/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6" name="AutoShape 45"/>
            <p:cNvSpPr/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-1" y="4894322"/>
            <a:ext cx="9144000" cy="249177"/>
          </a:xfrm>
          <a:prstGeom prst="rect">
            <a:avLst/>
          </a:prstGeom>
          <a:solidFill>
            <a:srgbClr val="425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511326" y="4897278"/>
            <a:ext cx="209804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卓越工程师学院 计算机技术</a:t>
            </a:r>
            <a:r>
              <a:rPr lang="en-US" altLang="zh-CN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XXX</a:t>
            </a:r>
            <a:r>
              <a:rPr lang="zh-CN" altLang="en-US" sz="1000" kern="10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+mn-ea"/>
              </a:rPr>
              <a:t>班</a:t>
            </a:r>
            <a:endParaRPr lang="zh-CN" altLang="en-US" sz="1000" kern="10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2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3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4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5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6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7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8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9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10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11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12.xml><?xml version="1.0" encoding="utf-8"?>
<p:tagLst xmlns:p="http://schemas.openxmlformats.org/presentationml/2006/main">
  <p:tag name="KSO_WM_DIAGRAM_VIRTUALLY_FRAME" val="{&quot;height&quot;:167.3000787401575,&quot;left&quot;:23.907952755905512,&quot;top&quot;:149.90763779527558,&quot;width&quot;:659.1063779527559}"/>
</p:tagLst>
</file>

<file path=ppt/tags/tag13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4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5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6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7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8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19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0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1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2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3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4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5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6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7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8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29.xml><?xml version="1.0" encoding="utf-8"?>
<p:tagLst xmlns:p="http://schemas.openxmlformats.org/presentationml/2006/main">
  <p:tag name="KSO_WM_DIAGRAM_VIRTUALLY_FRAME" val="{&quot;height&quot;:207.99188976377954,&quot;left&quot;:42.48779527559054,&quot;top&quot;:119.85,&quot;width&quot;:662.7622047244095}"/>
</p:tagLst>
</file>

<file path=ppt/tags/tag30.xml><?xml version="1.0" encoding="utf-8"?>
<p:tagLst xmlns:p="http://schemas.openxmlformats.org/presentationml/2006/main">
  <p:tag name="commondata" val="eyJoZGlkIjoiMzkzM2ZkOTUwY2ZmNDJhZmE5NmJmMDRiMDI4MzIwYjcifQ=="/>
</p:tagLst>
</file>

<file path=ppt/theme/theme1.xml><?xml version="1.0" encoding="utf-8"?>
<a:theme xmlns:a="http://schemas.openxmlformats.org/drawingml/2006/main" name="Office 主题​​">
  <a:themeElements>
    <a:clrScheme name="自定义 290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42556C"/>
      </a:accent1>
      <a:accent2>
        <a:srgbClr val="29323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华文细黑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WPS 演示</Application>
  <PresentationFormat>全屏显示(16:9)</PresentationFormat>
  <Paragraphs>218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Times New Roman</vt:lpstr>
      <vt:lpstr>Arial</vt:lpstr>
      <vt:lpstr>Gill Sans</vt:lpstr>
      <vt:lpstr>Calibri Light</vt:lpstr>
      <vt:lpstr>方正宋刻本秀楷简体</vt:lpstr>
      <vt:lpstr>Calibri</vt:lpstr>
      <vt:lpstr>微软雅黑 Light</vt:lpstr>
      <vt:lpstr>华文细黑</vt:lpstr>
      <vt:lpstr>Gill Sans MT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qzuser</cp:lastModifiedBy>
  <cp:revision>273</cp:revision>
  <dcterms:created xsi:type="dcterms:W3CDTF">2020-01-28T04:26:00Z</dcterms:created>
  <dcterms:modified xsi:type="dcterms:W3CDTF">2025-12-07T03:21:34Z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1800FDBC981F4BF49088414923222059_11</vt:lpwstr>
  </property>
  <property fmtid="{D5CDD505-2E9C-101B-9397-08002B2CF9AE}" pid="3" name="KSOProductBuildVer">
    <vt:lpwstr>2052-12.1.0.24034</vt:lpwstr>
  </property>
</Properties>
</file>